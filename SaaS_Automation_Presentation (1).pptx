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01" r:id="rId5"/>
    <p:sldId id="304" r:id="rId6"/>
    <p:sldId id="305" r:id="rId7"/>
    <p:sldId id="306" r:id="rId8"/>
    <p:sldId id="307" r:id="rId9"/>
    <p:sldId id="315" r:id="rId10"/>
    <p:sldId id="314" r:id="rId11"/>
    <p:sldId id="308" r:id="rId12"/>
    <p:sldId id="316" r:id="rId13"/>
    <p:sldId id="309" r:id="rId14"/>
    <p:sldId id="310" r:id="rId15"/>
    <p:sldId id="311" r:id="rId16"/>
    <p:sldId id="312" r:id="rId17"/>
    <p:sldId id="313" r:id="rId18"/>
    <p:sldId id="303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697" y="7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Automating Manual Business Workflows in SaaS Products: A Rule-Based and Event-Driven Framework</a:t>
            </a:r>
            <a:endParaRPr lang="en-US" sz="24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Chahat (2210990231)  |  Bhomya Sharma (2210990224)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Prerana Thakur (2210992085)  |  Noovi Bedi (2210992004)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Ashish Kumar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4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304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SaaS platforms grow faster than the processes supporting them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Manual tasks: routing requests, chasing approvals, generating reports, syncing data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Manual workflows cause bottlenecks, errors, and cascading failures as scale increases</a:t>
            </a: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The Problem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Repetitive manual tasks slow down platform growth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Existing tools (BPM, RPA, Zapier, n8n) have critical gaps for SaaS workflows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No single framework combines rule-based control + event-driven execution for SaaS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&amp; Background</a:t>
            </a:r>
          </a:p>
        </p:txBody>
      </p:sp>
      <p:sp>
        <p:nvSpPr>
          <p:cNvPr id="205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305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Prior Research Highlights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Georgakopoulos et al. (1995): Foundational workflow management systems concepts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Systematic review (2016-2023): 300+ papers — RPA, WMS, ERP dominant in industry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Agostinelli et al. (2020): Process mining + automation scripting for self-improving RPA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Tavares et al. (2023): RPA-BPM hybrid — 5-stage lifecycle: Design, Model, Execute, Monitor, Optimize</a:t>
            </a: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Event-Driven Architecture Advantage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Chavan (2021): EDA microservices are 19% faster and have 34% fewer errors than API-based ones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Li et al. (2009): Multi-tenant SaaS workflows — dynamic task assignment remains an open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Existing Tools</a:t>
            </a:r>
          </a:p>
        </p:txBody>
      </p:sp>
      <p:sp>
        <p:nvSpPr>
          <p:cNvPr id="206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306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Tool Comparison Overview</a:t>
            </a:r>
          </a:p>
          <a:p>
            <a:pPr marL="914400" lvl="1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Zapier: No-code trigger-action; no conditional logic, no failure policy, vendor lock-in</a:t>
            </a:r>
          </a:p>
          <a:p>
            <a:pPr marL="914400" lvl="1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n8n: Open-source visual canvas; flexible but lacks built-in monitoring &amp; rollback</a:t>
            </a:r>
          </a:p>
          <a:p>
            <a:pPr marL="914400" lvl="1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Microsoft Power Automate: Deep Microsoft 365 integration; overkill/expensive for SaaS startups</a:t>
            </a:r>
          </a:p>
          <a:p>
            <a:pPr marL="914400" lvl="1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Apache Airflow: Excellent for data pipelines; no business rules, no event-driven triggers</a:t>
            </a: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Key Gaps in All Existing Tools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None combine: formal rule model + event-driven execution + SaaS-native design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None provide built-in TET / EFR / MDI performance monitoring out of the box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None are fully vendor-neutral, open, and lightweight for SaaS from the ground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 Architecture</a:t>
            </a:r>
          </a:p>
        </p:txBody>
      </p:sp>
      <p:sp>
        <p:nvSpPr>
          <p:cNvPr id="207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307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Five-Component Architecture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Workflow Trigger Engine — detects system events and fires automation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Rule Evaluation Module — evaluates conditions against system state (JSON/YAML rules)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Playbook Execution Engine — runs action sequences with branching and rollback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Integration Layer — REST APIs, webhooks, event listeners; fully vendor-neutral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Monitoring &amp; Feedback Module — real-time TET, EFR, MDI and throughput tracking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44C4C3-E25A-3DDC-44EB-1F3F87615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52" y="4794817"/>
            <a:ext cx="7582958" cy="1715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DB68-DAFA-0E02-E915-264563A8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 Architecture</a:t>
            </a: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D15EA-A4B7-09BA-94DD-6978138500C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213CB-57B7-86C6-BBCE-4C30D542B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53" y="1123123"/>
            <a:ext cx="7683458" cy="509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9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2504-D371-8818-17DD-9E8E4851C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956"/>
            <a:ext cx="5028840" cy="417083"/>
          </a:xfrm>
        </p:spPr>
        <p:txBody>
          <a:bodyPr/>
          <a:lstStyle/>
          <a:p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 Architecture</a:t>
            </a: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D73FB-BDAA-60DC-6A7B-9693F6E0999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1"/>
            <a:ext cx="8229240" cy="1019410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500"/>
              </a:spcBef>
              <a:buNone/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Design Principles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Stack-agnostic, horizontally scalable, asynchronous message passing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Portable YAML/JSON rules with version control support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Modular components — each can be replaced independently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944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Rule Model &amp; Metrics</a:t>
            </a:r>
          </a:p>
        </p:txBody>
      </p:sp>
      <p:sp>
        <p:nvSpPr>
          <p:cNvPr id="208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sp>
        <p:nvSpPr>
          <p:cNvPr id="308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Rule Definition: R = { TC, EC, AM, EP, FP }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TC (Trigger Condition): System event or threshold that activates the rule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EC (Evaluation Criteria): Logical check — is the rule applicable to current state?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AM (Action Mapping): Ordered sequence of steps to execute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EP (Execution Priority): Rank when multiple rules fire simultaneously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FP (Failure Policy): Retry / Skip / Rollback on failure</a:t>
            </a: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Performance Metrics Defined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TET (Task Execution Time): TET = T_complete − T_trigger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EFR (Error Frequency Rate): EFR = N_failed / N_total × 100%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MDI (Manual Dependency Index): MDI = S_manual / S_total ×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C0C8-EC02-8AF0-6B32-D774EDA0B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Rule Model &amp; Metrics</a:t>
            </a: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FE1CC-CECB-ECB8-1C87-F954EF4E0F4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45786-69B5-4A05-1E54-B97B2986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26" y="1399892"/>
            <a:ext cx="8408504" cy="472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5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Enterprise SaaS Onboarding</a:t>
            </a:r>
          </a:p>
        </p:txBody>
      </p:sp>
      <p:sp>
        <p:nvSpPr>
          <p:cNvPr id="209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9</a:t>
            </a:r>
          </a:p>
        </p:txBody>
      </p:sp>
      <p:sp>
        <p:nvSpPr>
          <p:cNvPr id="309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Manual Baseline (Before Automation)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New enterprise account registration triggers a chain of manual handoffs</a:t>
            </a:r>
          </a:p>
          <a:p>
            <a:pPr marL="914400" lvl="1" indent="-317500">
              <a:lnSpc>
                <a:spcPct val="140000"/>
              </a:lnSpc>
              <a:spcBef>
                <a:spcPts val="200"/>
              </a:spcBef>
              <a:buClr>
                <a:srgbClr val="555555"/>
              </a:buClr>
              <a:buSzPts val="1000"/>
              <a:buChar char="◦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</a:rPr>
              <a:t>Sales engineer manually creates CRM record</a:t>
            </a:r>
          </a:p>
          <a:p>
            <a:pPr marL="914400" lvl="1" indent="-317500">
              <a:lnSpc>
                <a:spcPct val="140000"/>
              </a:lnSpc>
              <a:spcBef>
                <a:spcPts val="200"/>
              </a:spcBef>
              <a:buClr>
                <a:srgbClr val="555555"/>
              </a:buClr>
              <a:buSzPts val="1000"/>
              <a:buChar char="◦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</a:rPr>
              <a:t>Ops team sends welcome email and provisioning details</a:t>
            </a:r>
          </a:p>
          <a:p>
            <a:pPr marL="914400" lvl="1" indent="-317500">
              <a:lnSpc>
                <a:spcPct val="140000"/>
              </a:lnSpc>
              <a:spcBef>
                <a:spcPts val="200"/>
              </a:spcBef>
              <a:buClr>
                <a:srgbClr val="555555"/>
              </a:buClr>
              <a:buSzPts val="1000"/>
              <a:buChar char="◦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</a:rPr>
              <a:t>Engineering ticket filed manually; CSM schedules check-in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Each manual step risks delay — late provisioning ticket delays client activation by days</a:t>
            </a: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Automated Framework in Action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1: REST API call auto-creates CRM record from registration event payload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2: Integration Layer fires webhook — personalised welcome email dispatched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3: Engineering ticket auto-created; 48hr CSM check-in auto-scheduled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Result: TET drops from hours to under 3 minutes; MDI falls below 20%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</p:txBody>
      </p:sp>
      <p:sp>
        <p:nvSpPr>
          <p:cNvPr id="2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10</a:t>
            </a:r>
          </a:p>
        </p:txBody>
      </p:sp>
      <p:sp>
        <p:nvSpPr>
          <p:cNvPr id="310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Rule Configuration (JSON Example — CRM Step)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rule_id: "onboard-enterprise-crm"</a:t>
            </a:r>
          </a:p>
          <a:p>
            <a:pPr marL="914400" lvl="1" indent="-317500">
              <a:lnSpc>
                <a:spcPct val="140000"/>
              </a:lnSpc>
              <a:spcBef>
                <a:spcPts val="200"/>
              </a:spcBef>
              <a:buClr>
                <a:srgbClr val="555555"/>
              </a:buClr>
              <a:buSzPts val="1000"/>
              <a:buChar char="◦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</a:rPr>
              <a:t>trigger: event = "account.registered" from registration_service</a:t>
            </a:r>
          </a:p>
          <a:p>
            <a:pPr marL="914400" lvl="1" indent="-317500">
              <a:lnSpc>
                <a:spcPct val="140000"/>
              </a:lnSpc>
              <a:spcBef>
                <a:spcPts val="200"/>
              </a:spcBef>
              <a:buClr>
                <a:srgbClr val="555555"/>
              </a:buClr>
              <a:buSzPts val="1000"/>
              <a:buChar char="◦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</a:rPr>
              <a:t>eval_criteria: account_type = "enterprise", region in [IN, US, GB]</a:t>
            </a:r>
          </a:p>
          <a:p>
            <a:pPr marL="914400" lvl="1" indent="-317500">
              <a:lnSpc>
                <a:spcPct val="140000"/>
              </a:lnSpc>
              <a:spcBef>
                <a:spcPts val="200"/>
              </a:spcBef>
              <a:buClr>
                <a:srgbClr val="555555"/>
              </a:buClr>
              <a:buSzPts val="1000"/>
              <a:buChar char="◦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</a:rPr>
              <a:t>action: POST to CRM API using enterprise_onboarding_v2 playbook</a:t>
            </a:r>
          </a:p>
          <a:p>
            <a:pPr marL="914400" lvl="1" indent="-317500">
              <a:lnSpc>
                <a:spcPct val="140000"/>
              </a:lnSpc>
              <a:spcBef>
                <a:spcPts val="200"/>
              </a:spcBef>
              <a:buClr>
                <a:srgbClr val="555555"/>
              </a:buClr>
              <a:buSzPts val="1000"/>
              <a:buChar char="◦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</a:rPr>
              <a:t>failure_policy: retry (max 3, 60s delay) → alert ops-team on exhaustion</a:t>
            </a: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Orchestration Loop Logic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Blocking queue consume() → rule_engine.evaluate(event) → sort_by_priority()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playbook_engine.execute() with inline TET recording per rule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On ExecutionError: record EFR, apply failure policy (retry/skip/rollback)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Integration: inbound webhooks → normalize to internal schema → orchestration loop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Results</a:t>
            </a:r>
          </a:p>
        </p:txBody>
      </p:sp>
      <p:sp>
        <p:nvSpPr>
          <p:cNvPr id="211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11</a:t>
            </a:r>
          </a:p>
        </p:txBody>
      </p:sp>
      <p:sp>
        <p:nvSpPr>
          <p:cNvPr id="311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Simulation Setup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100 workflow instances across 10 categories of repetitive SaaS workflows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30 automation rules (~3 rules/category); standard load + 2× elevated load tested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Manual baseline: average task time ~42 min end-to-end, EFR 20-25%</a:t>
            </a: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Results vs. Manual Baseline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Task Execution Time: 42 min → 8-14 min  (68-82% reduction)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Error Frequency Rate: 20-25% → 5-8%  (3-4× improvement)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Throughput: 20 tasks/hr → 60+ tasks/hr  (3× increase)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Load Degradation at 2× volume: Manual 35% → Automated &lt;12%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Manual Dependency Index: ~78% → &lt;15%  (85% reduction in human steps)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Limitations</a:t>
            </a:r>
          </a:p>
        </p:txBody>
      </p:sp>
      <p:sp>
        <p:nvSpPr>
          <p:cNvPr id="212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12</a:t>
            </a:r>
          </a:p>
        </p:txBody>
      </p:sp>
      <p:sp>
        <p:nvSpPr>
          <p:cNvPr id="312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Key Insights from Results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EFR improvement (20-25% → 5-8%) is the most impactful finding</a:t>
            </a:r>
          </a:p>
          <a:p>
            <a:pPr marL="914400" lvl="1" indent="-317500">
              <a:spcBef>
                <a:spcPts val="200"/>
              </a:spcBef>
              <a:buClr>
                <a:srgbClr val="555555"/>
              </a:buClr>
              <a:buSzPts val="1000"/>
              <a:buChar char="◦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</a:rPr>
              <a:t>A failed approval step can block 3+ downstream processes in enterprise SaaS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Asynchronous execution explains &lt;12% degradation at 2× load — distributes work naturally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MDI &lt;15% means most workflows run fully automated — humans only for true edge cases</a:t>
            </a:r>
          </a:p>
          <a:p>
            <a:endParaRPr lang="en-US" sz="1400" b="0" dirty="0">
              <a:latin typeface="Times New Roman"/>
            </a:endParaRPr>
          </a:p>
          <a:p>
            <a:pPr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Honest Limitations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Simulation only — no production deployment; real-world edge cases not captured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Rule module cannot handle unanticipated scenarios not modelled at rule-write time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Multi-tenant isolation not tested (open problem per Li et al.)</a:t>
            </a:r>
          </a:p>
          <a:p>
            <a:pPr marL="457200" lvl="0" indent="-317500"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No direct benchmark against Zapier / Power Automate / Airflow on same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&amp; Conclusion</a:t>
            </a:r>
          </a:p>
        </p:txBody>
      </p:sp>
      <p:sp>
        <p:nvSpPr>
          <p:cNvPr id="213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0000"/>
                </a:solidFill>
                <a:latin typeface="Calibri"/>
              </a:rPr>
              <a:t>13</a:t>
            </a:r>
          </a:p>
        </p:txBody>
      </p:sp>
      <p:sp>
        <p:nvSpPr>
          <p:cNvPr id="313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Future Directions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ML-based rule generation via process mining on historical execution logs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Multi-tenant concurrent load testing to validate production readiness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Head-to-head comparison with Zapier, Power Automate, Airflow on identical workflows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Anomaly detection + GDPR/SOC 2-compliant audit logging for finance &amp; healthcare SaaS</a:t>
            </a:r>
          </a:p>
          <a:p>
            <a:pPr>
              <a:lnSpc>
                <a:spcPct val="100000"/>
              </a:lnSpc>
            </a:pPr>
            <a:endParaRPr lang="en-US" sz="1400" b="0" dirty="0"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en-US" sz="2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Conclusion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Proposed a 5-component rule-based + event-driven automation framework for SaaS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Defined clear metrics: TET, EFR, MDI — validated through controlled simulation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Results exceeded expectations across all three metrics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Framework is conceptually solid and warrants further development and production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34710</TotalTime>
  <Words>1239</Words>
  <Application>Microsoft Office PowerPoint</Application>
  <PresentationFormat>On-screen Show (4:3)</PresentationFormat>
  <Paragraphs>145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Proposed Framework Architecture </vt:lpstr>
      <vt:lpstr>Proposed Framework Architecture </vt:lpstr>
      <vt:lpstr>PowerPoint Presentation</vt:lpstr>
      <vt:lpstr> Formal Rule Model &amp; Metrics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Chahat ‎</cp:lastModifiedBy>
  <cp:revision>2301</cp:revision>
  <dcterms:created xsi:type="dcterms:W3CDTF">2010-04-09T07:36:15Z</dcterms:created>
  <dcterms:modified xsi:type="dcterms:W3CDTF">2026-04-30T12:22:48Z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